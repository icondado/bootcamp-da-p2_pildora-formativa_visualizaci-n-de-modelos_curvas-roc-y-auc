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3A8A"/>
                </a:solidFill>
                <a:latin typeface="Arial"/>
              </a:defRPr>
            </a:pPr>
            <a:r>
              <a:t>Visualización de Modelos</a:t>
            </a:r>
          </a:p>
          <a:p>
            <a:pPr algn="ctr">
              <a:spcBef>
                <a:spcPts val="1000"/>
              </a:spcBef>
              <a:defRPr sz="4800" b="1">
                <a:solidFill>
                  <a:srgbClr val="10B981"/>
                </a:solidFill>
                <a:latin typeface="Arial"/>
              </a:defRPr>
            </a:pPr>
            <a:r>
              <a:t>Curvas ROC y AUC</a:t>
            </a:r>
          </a:p>
          <a:p>
            <a:pPr algn="ctr">
              <a:spcBef>
                <a:spcPts val="2500"/>
              </a:spcBef>
              <a:defRPr sz="2200">
                <a:solidFill>
                  <a:srgbClr val="334155"/>
                </a:solidFill>
                <a:latin typeface="Calibri"/>
              </a:defRPr>
            </a:pPr>
            <a:r>
              <a:t>Evaluación del rendimiento en Clasificación Binaria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¿Por qué la Exactitud nos engaña?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10B981"/>
                </a:solidFill>
                <a:latin typeface="Arial"/>
              </a:defRPr>
            </a:pPr>
            <a:r>
              <a:t>Clases Desbalanceadas</a:t>
            </a:r>
          </a:p>
          <a:p>
            <a:pPr>
              <a:defRPr sz="1800">
                <a:solidFill>
                  <a:srgbClr val="334155"/>
                </a:solidFill>
                <a:latin typeface="Calibri"/>
              </a:defRPr>
            </a:pPr>
            <a:r>
              <a:t>Si el 99% de tus datos son 'negativos' (ej. transacciones normales), un modelo que prediga siempre 'no' de forma perezosa logrará un 99% de exactitud (Accuracy).</a:t>
            </a:r>
            <a:br/>
            <a:br/>
            <a:r>
              <a:t>Sin embargo, este modelo es completamente inútil para el negocio porque fallará al detectar el 1% de casos críticos positivos.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1E3A8A"/>
                </a:solidFill>
                <a:latin typeface="Arial"/>
              </a:defRPr>
            </a:pPr>
            <a:r>
              <a:t>Umbrales de Decisión</a:t>
            </a:r>
          </a:p>
          <a:p>
            <a:pPr>
              <a:defRPr sz="1800">
                <a:solidFill>
                  <a:srgbClr val="334155"/>
                </a:solidFill>
                <a:latin typeface="Calibri"/>
              </a:defRPr>
            </a:pPr>
            <a:r>
              <a:t>La métrica clásica de exactitud cambia drásticamente según el umbral de decisión elegido (por defecto 0.5).</a:t>
            </a:r>
            <a:br/>
            <a:br/>
            <a:r>
              <a:t>Para problemas complejos, necesitamos evaluar el clasificador en todos los escenarios posibles, sin limitarnos a un único punto de corte.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Los Cimientos: Matriz de Confusión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Término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Definición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VP (Verdadero Positivo)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El modelo predice positivo y realmente pertenece a esa clase.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Éxito de Captura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VN (Verdadero Negativo)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El modelo predice negativo y realmente pertenece a esa clase.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Descarte Correcto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FP (Falso Positivo)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Predicción positiva en un caso que es realmente negativo.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Falsa Alarma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FN (Falso Negativo)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Predicción negativa en un caso que es realmente positivo.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Fallo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Sensibilidad vs. Falsa Alarma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10B981"/>
                </a:solidFill>
                <a:latin typeface="Arial"/>
              </a:defRPr>
            </a:pPr>
            <a:r>
              <a:t>TPR (True Positive Rate)</a:t>
            </a:r>
          </a:p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También llamada Sensibilidad o Recall.</a:t>
            </a:r>
            <a:br/>
            <a:br/>
            <a:r>
              <a:t>Indica la proporción de positivos reales que el modelo es capaz de detectar correctamente.</a:t>
            </a:r>
            <a:br/>
            <a:br/>
            <a:r>
              <a:t>Fórmula matemática:</a:t>
            </a:r>
          </a:p>
          <a:p>
            <a:pPr>
              <a:defRPr sz="2200" b="1">
                <a:solidFill>
                  <a:srgbClr val="1E3A8A"/>
                </a:solidFill>
                <a:latin typeface="Consolas"/>
              </a:defRPr>
            </a:pPr>
            <a:r>
              <a:t>TPR = VP / ( VP + FN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59E0B"/>
                </a:solidFill>
                <a:latin typeface="Arial"/>
              </a:defRPr>
            </a:pPr>
            <a:r>
              <a:t>FPR (False Positive Rate)</a:t>
            </a:r>
          </a:p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Conocida como la tasa de Falsa Alarma.</a:t>
            </a:r>
            <a:br/>
            <a:br/>
            <a:r>
              <a:t>Mide la proporción de casos reales negativos que el modelo clasifica de manera errónea como positivos.</a:t>
            </a:r>
            <a:br/>
            <a:br/>
            <a:r>
              <a:t>Fórmula matemática:</a:t>
            </a:r>
          </a:p>
          <a:p>
            <a:pPr>
              <a:defRPr sz="2200" b="1">
                <a:solidFill>
                  <a:srgbClr val="1E3A8A"/>
                </a:solidFill>
                <a:latin typeface="Consolas"/>
              </a:defRPr>
            </a:pPr>
            <a:r>
              <a:t>FPR = FP / ( FP + VN 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El Mapa del Clasificador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1E3A8A"/>
                </a:solidFill>
                <a:latin typeface="Arial"/>
              </a:defRPr>
            </a:pPr>
            <a:r>
              <a:t>¿Qué es la Curva ROC?</a:t>
            </a:r>
          </a:p>
          <a:p>
            <a:pPr>
              <a:defRPr sz="1800">
                <a:solidFill>
                  <a:srgbClr val="334155"/>
                </a:solidFill>
                <a:latin typeface="Calibri"/>
              </a:defRPr>
            </a:pPr>
            <a:r>
              <a:t>ROC: Receiver Operating Characteristic (Característica Operativa del Receptor).</a:t>
            </a:r>
            <a:br/>
            <a:br/>
            <a:r>
              <a:t>Es una curva que evalúa el rendimiento del clasificador graficando la relación de TPR frente a FPR, mostrando la penalización de falsas alarmas que debemos admitir para mejorar la detección.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10B981"/>
                </a:solidFill>
                <a:latin typeface="Arial"/>
              </a:defRPr>
            </a:pPr>
            <a:r>
              <a:t>Representación Gráfica</a:t>
            </a:r>
          </a:p>
          <a:p>
            <a:pPr>
              <a:defRPr sz="1800">
                <a:solidFill>
                  <a:srgbClr val="334155"/>
                </a:solidFill>
                <a:latin typeface="Calibri"/>
              </a:defRPr>
            </a:pPr>
            <a:r>
              <a:t>• Eje Y: Muestra el ratio de éxitos TPR (Sensibilidad).</a:t>
            </a:r>
            <a:br/>
            <a:br/>
            <a:r>
              <a:t>• Eje X: Muestra el ratio de falsas alarmas FPR.</a:t>
            </a:r>
            <a:br/>
            <a:br/>
            <a:r>
              <a:t>• Se traza evaluando el comportamiento del clasificador en un espectro continuo de umbrales desde 1.0 hasta 0.0.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Dinámica de los Umbrales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716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Umbral 1.0 (Conservador)</a:t>
            </a:r>
          </a:p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No clasificamos nada como positivo. Cero falsas alarmas (FPR = 0), pero tampoco capturamos verdaderos positivos (TPR = 0). Nos situamos en el origen exacto (0.0, 0.0).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3716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0B981"/>
                </a:solidFill>
                <a:latin typeface="Arial"/>
              </a:defRPr>
            </a:pPr>
            <a:r>
              <a:t>Umbral 0.5 (Predeterminado)</a:t>
            </a:r>
          </a:p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Punto de balance intermedio estándar. Logra un equilibrio inicial entre tasa de éxitos de diagnóstico y costes de falsas alertas.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3716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59E0B"/>
                </a:solidFill>
                <a:latin typeface="Arial"/>
              </a:defRPr>
            </a:pPr>
            <a:r>
              <a:t>Umbral 0.0 (Permisivo)</a:t>
            </a:r>
          </a:p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Clasificamos todo como positivo automáticamente. Máxima detección (TPR = 1.0) a costa de arruinar el ratio de falsas alarmas (FPR = 1.0). Coordenada (1.0, 1.0).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AUC: La Nota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0" b="1">
                <a:solidFill>
                  <a:srgbClr val="F59E0B"/>
                </a:solidFill>
                <a:latin typeface="Arial"/>
              </a:defRPr>
            </a:pPr>
            <a:r>
              <a:t>0.85</a:t>
            </a:r>
          </a:p>
          <a:p>
            <a:pPr algn="ctr">
              <a:defRPr sz="2000" b="1">
                <a:solidFill>
                  <a:srgbClr val="1E3A8A"/>
                </a:solidFill>
                <a:latin typeface="Arial"/>
              </a:defRPr>
            </a:pPr>
            <a:r>
              <a:t>Puntuación de Rendimiento AUC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645920"/>
            <a:ext cx="6126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0" y="192024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1E3A8A"/>
                </a:solidFill>
                <a:latin typeface="Arial"/>
              </a:defRPr>
            </a:pPr>
            <a:r>
              <a:t>Área Bajo la Curva (AUC)</a:t>
            </a:r>
          </a:p>
          <a:p>
            <a:pPr>
              <a:spcAft>
                <a:spcPts val="15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El AUC simplifica y resume todo el rendimiento de la curva ROC en un solo dato cuantitativo de diagnóstico.</a:t>
            </a:r>
          </a:p>
          <a:p>
            <a:pPr>
              <a:defRPr sz="1800" b="1">
                <a:solidFill>
                  <a:srgbClr val="334155"/>
                </a:solidFill>
                <a:latin typeface="Calibri"/>
              </a:defRPr>
            </a:pPr>
            <a:r>
              <a:t>Interpretación Clave:</a:t>
            </a:r>
            <a:br/>
            <a:r>
              <a:t>Representa la probabilidad de que, al tomar de manera totalmente aleatoria un registro positivo y uno negativo, el clasificador asigne un valor de score predictivo mayor al positivo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Interpretando el Rendimiento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Rango de AUC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Clasificación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Estado en Producción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0.90 – 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Separación muy alta. Idóneo para entornos sensibles (salud, seguridad, finanzas).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0.80 – 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Estándar industrial de alto rendimiento. Resultados comerciales robustos.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0.70 – 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Aceptable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Discriminación básica con margen claro de error. Requiere mayor optimización.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Sin Valor (Azar)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El modelo funciona igual de bien que lanzar una moneda común al aire.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Aplicaciones en el Mundo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9184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0B981"/>
                </a:solidFill>
                <a:latin typeface="Arial"/>
              </a:defRPr>
            </a:pPr>
            <a:r>
              <a:t>Diagnóstico Médico</a:t>
            </a:r>
          </a:p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Buscamos una sensibilidad cercana al 100% para no ignorar enfermedades críticas reales, aceptando de forma preventiva un ratio mayor de falsas alarmas operativas.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291840" cy="137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Detección de Fraude</a:t>
            </a:r>
          </a:p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Ajustamos a un equilibrio donde podamos bloquear la mayor cantidad de robos sin saturar ni molestar a los clientes en sus compras legítimas cotidianas.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0" y="1828800"/>
            <a:ext cx="329184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F59E0B"/>
                </a:solidFill>
                <a:latin typeface="Arial"/>
              </a:defRPr>
            </a:pPr>
            <a:r>
              <a:t>Seguridad (Antispam)</a:t>
            </a:r>
          </a:p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Fijamos un FPR cercano a 0%. Es preferible tolerar que un spam se cuele en la bandeja principal antes que arriesgarse a bloquear por error correos críticos.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Implementación en 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  <a:latin typeface="Consolas"/>
              </a:defRPr>
            </a:pPr>
            <a:r>
              <a:t>from sklearn.metrics import roc_curve, roc_auc_score</a:t>
            </a:r>
            <a:br/>
            <a:br/>
            <a:r>
              <a:t># PASO CRUCIAL: Utilizar probabilidades continuas</a:t>
            </a:r>
            <a:br/>
            <a:r>
              <a:t>y_probs = model.predict_proba(X_test)[:, 1]</a:t>
            </a:r>
            <a:br/>
            <a:br/>
            <a:r>
              <a:t># Obtener el AUC global del modelo</a:t>
            </a:r>
            <a:br/>
            <a:r>
              <a:t>auc = roc_auc_score(y_test, y_probs)</a:t>
            </a:r>
            <a:br/>
            <a:br/>
            <a:r>
              <a:t># Obtener los vectores para graficar la curva</a:t>
            </a:r>
            <a:br/>
            <a:r>
              <a:t>fpr, tpr, thresholds = roc_curve(y_test, y_probs)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92024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1E3A8A"/>
                </a:solidFill>
                <a:latin typeface="Arial"/>
              </a:defRPr>
            </a:pPr>
            <a:r>
              <a:t>¡Advertencia de Uso!</a:t>
            </a:r>
          </a:p>
          <a:p>
            <a:pPr>
              <a:defRPr sz="1800">
                <a:solidFill>
                  <a:srgbClr val="334155"/>
                </a:solidFill>
                <a:latin typeface="Calibri"/>
              </a:defRPr>
            </a:pPr>
            <a:r>
              <a:t>Nunca emplees la función estándar 'predict()' para evaluar la Curva ROC o el AUC.</a:t>
            </a:r>
            <a:br/>
            <a:br/>
            <a:r>
              <a:t>Al entregar etiquetas binarias cerradas (0 o 1), el cálculo asumirá que cuentas únicamente con un umbral de decisión estático, generando una curva deformada e imprecisa.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Limitaciones y Advertencias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F59E0B"/>
                </a:solidFill>
                <a:latin typeface="Arial"/>
              </a:defRPr>
            </a:pPr>
            <a:r>
              <a:t>Desbalanceo Crítico</a:t>
            </a:r>
          </a:p>
          <a:p>
            <a:pPr>
              <a:defRPr sz="1800">
                <a:solidFill>
                  <a:srgbClr val="334155"/>
                </a:solidFill>
                <a:latin typeface="Calibri"/>
              </a:defRPr>
            </a:pPr>
            <a:r>
              <a:t>Si la clase positiva real es extremadamente infrecuente (ej. &lt; 0.5%), la tasa de Falsa Alarma (FPR) puede verse artificialmente baja e inmejorable.</a:t>
            </a:r>
            <a:br/>
            <a:br/>
            <a:r>
              <a:t>En este contexto, se recomienda evaluar con las curvas Precision-Recall (PR) para no enmascarar deficiencias predictivas.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1E3A8A"/>
                </a:solidFill>
                <a:latin typeface="Arial"/>
              </a:defRPr>
            </a:pPr>
            <a:r>
              <a:t>Costos de Error Asimétricos</a:t>
            </a:r>
          </a:p>
          <a:p>
            <a:pPr>
              <a:defRPr sz="1800">
                <a:solidFill>
                  <a:srgbClr val="334155"/>
                </a:solidFill>
                <a:latin typeface="Calibri"/>
              </a:defRPr>
            </a:pPr>
            <a:r>
              <a:t>La métrica del AUC trata un Falso Positivo exactamente con el mismo peso ponderado que un Falso Negativo.</a:t>
            </a:r>
            <a:br/>
            <a:br/>
            <a:r>
              <a:t>En la práctica comercial, omitir un fraude (FN) o descartar una dolencia coronaria grave suele costar órdenes de magnitud más que causar falsas alarmas controladas.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0B981"/>
                </a:solidFill>
                <a:latin typeface="Arial"/>
              </a:defRPr>
            </a:pPr>
            <a:r>
              <a:rPr lang="es-ES" dirty="0"/>
              <a:t>¡</a:t>
            </a:r>
            <a:r>
              <a:rPr lang="es-ES"/>
              <a:t>Gracias</a:t>
            </a:r>
            <a:r>
              <a:rPr lang="es-ES" dirty="0"/>
              <a:t>!</a:t>
            </a:r>
            <a:endParaRPr dirty="0"/>
          </a:p>
          <a:p>
            <a:pPr algn="ctr">
              <a:spcBef>
                <a:spcPts val="3000"/>
              </a:spcBef>
              <a:defRPr sz="2400">
                <a:solidFill>
                  <a:srgbClr val="94A3B8"/>
                </a:solidFill>
                <a:latin typeface="Calibri"/>
              </a:defRPr>
            </a:pPr>
            <a:r>
              <a:rPr dirty="0" err="1"/>
              <a:t>Muchas</a:t>
            </a:r>
            <a:r>
              <a:rPr dirty="0"/>
              <a:t> gracias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vuestra</a:t>
            </a:r>
            <a:r>
              <a:rPr dirty="0"/>
              <a:t> </a:t>
            </a:r>
            <a:r>
              <a:rPr dirty="0" err="1"/>
              <a:t>atención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1035</Words>
  <Application>Microsoft Office PowerPoint</Application>
  <PresentationFormat>Panorámica</PresentationFormat>
  <Paragraphs>83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Usuario</cp:lastModifiedBy>
  <cp:revision>2</cp:revision>
  <dcterms:created xsi:type="dcterms:W3CDTF">2013-01-27T09:14:16Z</dcterms:created>
  <dcterms:modified xsi:type="dcterms:W3CDTF">2026-06-16T23:06:41Z</dcterms:modified>
  <cp:category/>
</cp:coreProperties>
</file>